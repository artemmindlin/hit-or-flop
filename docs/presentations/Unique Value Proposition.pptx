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Fira Sans Semi-Bold" charset="1" panose="020B0603050000020004"/>
      <p:regular r:id="rId7"/>
    </p:embeddedFont>
    <p:embeddedFont>
      <p:font typeface="Fira Sans Light" charset="1" panose="020B0403050000020004"/>
      <p:regular r:id="rId8"/>
    </p:embeddedFont>
    <p:embeddedFont>
      <p:font typeface="Fira Sans" charset="1" panose="020B050305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8.fntdata"/><Relationship Id="rId3" Type="http://schemas.openxmlformats.org/officeDocument/2006/relationships/viewProps" Target="viewProps.xml"/><Relationship Id="rId7" Type="http://schemas.openxmlformats.org/officeDocument/2006/relationships/font" Target="fonts/font7.fntdata"/><Relationship Id="rId12" Type="http://schemas.openxmlformats.org/officeDocument/2006/relationships/customXml" Target="../customXml/item3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customXml" Target="../customXml/item2.xml"/><Relationship Id="rId5" Type="http://schemas.openxmlformats.org/officeDocument/2006/relationships/tableStyles" Target="tableStyles.xml"/><Relationship Id="rId10" Type="http://schemas.openxmlformats.org/officeDocument/2006/relationships/customXml" Target="../customXml/item1.xml"/><Relationship Id="rId4" Type="http://schemas.openxmlformats.org/officeDocument/2006/relationships/theme" Target="theme/theme1.xml"/><Relationship Id="rId9" Type="http://schemas.openxmlformats.org/officeDocument/2006/relationships/font" Target="fonts/font9.fntdata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4D4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48335" y="262402"/>
            <a:ext cx="3400036" cy="7476390"/>
          </a:xfrm>
          <a:prstGeom prst="rect">
            <a:avLst/>
          </a:prstGeom>
          <a:solidFill>
            <a:srgbClr val="2F2F2F"/>
          </a:solidFill>
        </p:spPr>
      </p:sp>
      <p:sp>
        <p:nvSpPr>
          <p:cNvPr name="AutoShape 3" id="3"/>
          <p:cNvSpPr/>
          <p:nvPr/>
        </p:nvSpPr>
        <p:spPr>
          <a:xfrm rot="0">
            <a:off x="3845128" y="262402"/>
            <a:ext cx="3400036" cy="4587596"/>
          </a:xfrm>
          <a:prstGeom prst="rect">
            <a:avLst/>
          </a:prstGeom>
          <a:solidFill>
            <a:srgbClr val="2F2F2F"/>
          </a:solidFill>
        </p:spPr>
      </p:sp>
      <p:sp>
        <p:nvSpPr>
          <p:cNvPr name="AutoShape 4" id="4"/>
          <p:cNvSpPr/>
          <p:nvPr/>
        </p:nvSpPr>
        <p:spPr>
          <a:xfrm rot="0">
            <a:off x="7441921" y="262402"/>
            <a:ext cx="3400036" cy="7476390"/>
          </a:xfrm>
          <a:prstGeom prst="rect">
            <a:avLst/>
          </a:prstGeom>
          <a:solidFill>
            <a:srgbClr val="2F2F2F"/>
          </a:solidFill>
        </p:spPr>
      </p:sp>
      <p:sp>
        <p:nvSpPr>
          <p:cNvPr name="AutoShape 5" id="5"/>
          <p:cNvSpPr/>
          <p:nvPr/>
        </p:nvSpPr>
        <p:spPr>
          <a:xfrm rot="0">
            <a:off x="14635508" y="262402"/>
            <a:ext cx="3400036" cy="7476390"/>
          </a:xfrm>
          <a:prstGeom prst="rect">
            <a:avLst/>
          </a:prstGeom>
          <a:solidFill>
            <a:srgbClr val="2F2F2F"/>
          </a:solidFill>
        </p:spPr>
      </p:sp>
      <p:sp>
        <p:nvSpPr>
          <p:cNvPr name="AutoShape 6" id="6"/>
          <p:cNvSpPr/>
          <p:nvPr/>
        </p:nvSpPr>
        <p:spPr>
          <a:xfrm rot="0">
            <a:off x="248335" y="7971430"/>
            <a:ext cx="8759067" cy="2023229"/>
          </a:xfrm>
          <a:prstGeom prst="rect">
            <a:avLst/>
          </a:prstGeom>
          <a:solidFill>
            <a:srgbClr val="2F2F2F"/>
          </a:solidFill>
        </p:spPr>
      </p:sp>
      <p:sp>
        <p:nvSpPr>
          <p:cNvPr name="AutoShape 7" id="7"/>
          <p:cNvSpPr/>
          <p:nvPr/>
        </p:nvSpPr>
        <p:spPr>
          <a:xfrm rot="0">
            <a:off x="9276477" y="7971430"/>
            <a:ext cx="8759067" cy="2023229"/>
          </a:xfrm>
          <a:prstGeom prst="rect">
            <a:avLst/>
          </a:prstGeom>
          <a:solidFill>
            <a:srgbClr val="2F2F2F"/>
          </a:solidFill>
        </p:spPr>
      </p:sp>
      <p:sp>
        <p:nvSpPr>
          <p:cNvPr name="AutoShape 8" id="8"/>
          <p:cNvSpPr/>
          <p:nvPr/>
        </p:nvSpPr>
        <p:spPr>
          <a:xfrm rot="0">
            <a:off x="3845128" y="5078598"/>
            <a:ext cx="3400036" cy="2660194"/>
          </a:xfrm>
          <a:prstGeom prst="rect">
            <a:avLst/>
          </a:prstGeom>
          <a:solidFill>
            <a:srgbClr val="2F2F2F"/>
          </a:solidFill>
        </p:spPr>
      </p:sp>
      <p:sp>
        <p:nvSpPr>
          <p:cNvPr name="AutoShape 9" id="9"/>
          <p:cNvSpPr/>
          <p:nvPr/>
        </p:nvSpPr>
        <p:spPr>
          <a:xfrm rot="0">
            <a:off x="11037684" y="262402"/>
            <a:ext cx="3400036" cy="5267565"/>
          </a:xfrm>
          <a:prstGeom prst="rect">
            <a:avLst/>
          </a:prstGeom>
          <a:solidFill>
            <a:srgbClr val="2F2F2F"/>
          </a:solidFill>
        </p:spPr>
      </p:sp>
      <p:sp>
        <p:nvSpPr>
          <p:cNvPr name="AutoShape 10" id="10"/>
          <p:cNvSpPr/>
          <p:nvPr/>
        </p:nvSpPr>
        <p:spPr>
          <a:xfrm rot="0">
            <a:off x="11038714" y="5787838"/>
            <a:ext cx="3400036" cy="1950954"/>
          </a:xfrm>
          <a:prstGeom prst="rect">
            <a:avLst/>
          </a:prstGeom>
          <a:solidFill>
            <a:srgbClr val="2F2F2F"/>
          </a:solidFill>
        </p:spPr>
      </p:sp>
      <p:grpSp>
        <p:nvGrpSpPr>
          <p:cNvPr name="Group 11" id="11"/>
          <p:cNvGrpSpPr/>
          <p:nvPr/>
        </p:nvGrpSpPr>
        <p:grpSpPr>
          <a:xfrm rot="0">
            <a:off x="11156632" y="5880957"/>
            <a:ext cx="3167138" cy="1739484"/>
            <a:chOff x="0" y="0"/>
            <a:chExt cx="4222850" cy="2319312"/>
          </a:xfrm>
        </p:grpSpPr>
        <p:sp>
          <p:nvSpPr>
            <p:cNvPr name="AutoShape 12" id="12"/>
            <p:cNvSpPr/>
            <p:nvPr/>
          </p:nvSpPr>
          <p:spPr>
            <a:xfrm>
              <a:off x="0" y="769504"/>
              <a:ext cx="4221372" cy="0"/>
            </a:xfrm>
            <a:prstGeom prst="line">
              <a:avLst/>
            </a:prstGeom>
            <a:ln cap="rnd" w="63500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1478" y="-9525"/>
              <a:ext cx="4221372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CHANNELS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478" y="1082007"/>
              <a:ext cx="4221372" cy="1237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Social media &amp; content marketing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Music industry events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64439" y="5078598"/>
            <a:ext cx="2942174" cy="2325934"/>
            <a:chOff x="0" y="0"/>
            <a:chExt cx="3922898" cy="3101246"/>
          </a:xfrm>
        </p:grpSpPr>
        <p:sp>
          <p:nvSpPr>
            <p:cNvPr name="AutoShape 16" id="16"/>
            <p:cNvSpPr/>
            <p:nvPr/>
          </p:nvSpPr>
          <p:spPr>
            <a:xfrm>
              <a:off x="0" y="799253"/>
              <a:ext cx="3922898" cy="0"/>
            </a:xfrm>
            <a:prstGeom prst="line">
              <a:avLst/>
            </a:prstGeom>
            <a:ln cap="rnd" w="63500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392289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EARLY ADOPTERS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030182"/>
              <a:ext cx="3922898" cy="2071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Artists w</a:t>
              </a:r>
              <a:r>
                <a:rPr lang="en-US" sz="1800" spc="9" u="none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ho want to create a hit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 u="none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Users who want to discover new music</a:t>
              </a: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73144" y="536161"/>
            <a:ext cx="2942174" cy="2930263"/>
            <a:chOff x="0" y="0"/>
            <a:chExt cx="3922898" cy="3907018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392289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PROBLEM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986653"/>
              <a:ext cx="3922898" cy="2920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For users: Difficul</a:t>
              </a:r>
              <a:r>
                <a:rPr lang="en-US" sz="1800" spc="9" u="none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ty discovering new songs, monotony in music.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 u="none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For artists: Challenges in achieving success in the music industry.</a:t>
              </a: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070968" y="536161"/>
            <a:ext cx="2945265" cy="4443735"/>
            <a:chOff x="0" y="0"/>
            <a:chExt cx="3927020" cy="592498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9525"/>
              <a:ext cx="392289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SOLUTION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935758"/>
              <a:ext cx="3922898" cy="4989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We create a recommendation system based on song characteristics rather than user behavior.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We analyze intrinsic features and metadata (including lyrics) to predict popularity, helping artists create hits.</a:t>
              </a: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AutoShape 25" id="25"/>
            <p:cNvSpPr/>
            <p:nvPr/>
          </p:nvSpPr>
          <p:spPr>
            <a:xfrm>
              <a:off x="4122" y="752041"/>
              <a:ext cx="3922898" cy="0"/>
            </a:xfrm>
            <a:prstGeom prst="line">
              <a:avLst/>
            </a:prstGeom>
            <a:ln cap="rnd" w="63500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69598" y="536161"/>
            <a:ext cx="2942174" cy="3005339"/>
            <a:chOff x="0" y="0"/>
            <a:chExt cx="3922898" cy="4007119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9525"/>
              <a:ext cx="3922898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UNIQUE VALUE PROPOSITION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519175"/>
              <a:ext cx="3922898" cy="2487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Predict a song’s popularity and identify musical patterns that appeal to users, increasing a song’s chances of success.</a:t>
              </a:r>
            </a:p>
          </p:txBody>
        </p:sp>
        <p:sp>
          <p:nvSpPr>
            <p:cNvPr name="AutoShape 29" id="29"/>
            <p:cNvSpPr/>
            <p:nvPr/>
          </p:nvSpPr>
          <p:spPr>
            <a:xfrm>
              <a:off x="0" y="1277909"/>
              <a:ext cx="3922898" cy="0"/>
            </a:xfrm>
            <a:prstGeom prst="line">
              <a:avLst/>
            </a:prstGeom>
            <a:ln cap="rnd" w="63500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75205" y="3671022"/>
            <a:ext cx="2946295" cy="3349513"/>
            <a:chOff x="0" y="0"/>
            <a:chExt cx="3928394" cy="4466017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5496" y="-9525"/>
              <a:ext cx="3922898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EXISTING ALTERNATIVES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496" y="1561194"/>
              <a:ext cx="3922898" cy="29048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Sp</a:t>
              </a:r>
              <a:r>
                <a:rPr lang="en-US" sz="1800" spc="9" u="none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otify relies on user behavior to make recommendations.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 u="none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Users follow those recommendations.</a:t>
              </a: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AutoShape 33" id="33"/>
            <p:cNvSpPr/>
            <p:nvPr/>
          </p:nvSpPr>
          <p:spPr>
            <a:xfrm>
              <a:off x="0" y="1325109"/>
              <a:ext cx="3922898" cy="0"/>
            </a:xfrm>
            <a:prstGeom prst="line">
              <a:avLst/>
            </a:prstGeom>
            <a:ln cap="rnd" w="63500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4070968" y="5158226"/>
            <a:ext cx="3167837" cy="2634875"/>
            <a:chOff x="0" y="0"/>
            <a:chExt cx="4223783" cy="3513166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9525"/>
              <a:ext cx="4223783" cy="497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  <a:spcBef>
                  <a:spcPct val="0"/>
                </a:spcBef>
              </a:pPr>
              <a:r>
                <a:rPr lang="en-US" b="true" sz="2438" spc="73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KEY METRICS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1011901"/>
              <a:ext cx="4223783" cy="2501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Number </a:t>
              </a:r>
              <a:r>
                <a:rPr lang="en-US" sz="1800" spc="9" u="none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of app users.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 u="none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Percentage of artists who have increased their number of published hits after using the app.</a:t>
              </a: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AutoShape 37" id="37"/>
            <p:cNvSpPr/>
            <p:nvPr/>
          </p:nvSpPr>
          <p:spPr>
            <a:xfrm>
              <a:off x="0" y="721748"/>
              <a:ext cx="4223783" cy="0"/>
            </a:xfrm>
            <a:prstGeom prst="line">
              <a:avLst/>
            </a:prstGeom>
            <a:ln cap="rnd" w="59559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669598" y="4520754"/>
            <a:ext cx="2942174" cy="2788528"/>
            <a:chOff x="0" y="0"/>
            <a:chExt cx="3922898" cy="3718038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-9525"/>
              <a:ext cx="3922898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HIGH LEVEL CONCEPT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1646974"/>
              <a:ext cx="3922898" cy="2071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Shazam for hit prediction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Spotify Wrapped for artists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Google Trends for music</a:t>
              </a:r>
            </a:p>
          </p:txBody>
        </p:sp>
        <p:sp>
          <p:nvSpPr>
            <p:cNvPr name="AutoShape 41" id="41"/>
            <p:cNvSpPr/>
            <p:nvPr/>
          </p:nvSpPr>
          <p:spPr>
            <a:xfrm>
              <a:off x="0" y="1367999"/>
              <a:ext cx="3922898" cy="0"/>
            </a:xfrm>
            <a:prstGeom prst="line">
              <a:avLst/>
            </a:prstGeom>
            <a:ln cap="rnd" w="63500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151634" y="524500"/>
            <a:ext cx="3172135" cy="4881298"/>
            <a:chOff x="0" y="0"/>
            <a:chExt cx="4229514" cy="6508398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-9525"/>
              <a:ext cx="4229514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UNFAIR ADVANTAGE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1519175"/>
              <a:ext cx="4229514" cy="4989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Unique dataset &amp; model trained specifically on hit prediction and song clustering.  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"/>
                  <a:ea typeface="Fira Sans"/>
                  <a:cs typeface="Fira Sans"/>
                  <a:sym typeface="Fira Sans"/>
                </a:rPr>
                <a:t>D</a:t>
              </a: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eep insights beyond metadata—focusing on song characteristics rather than just artist, genre, or release year.  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"/>
                  <a:ea typeface="Fira Sans"/>
                  <a:cs typeface="Fira Sans"/>
                  <a:sym typeface="Fira Sans"/>
                </a:rPr>
                <a:t>S</a:t>
              </a: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calability: Can be applied globally to different music markets.</a:t>
              </a:r>
            </a:p>
          </p:txBody>
        </p:sp>
        <p:sp>
          <p:nvSpPr>
            <p:cNvPr name="AutoShape 45" id="45"/>
            <p:cNvSpPr/>
            <p:nvPr/>
          </p:nvSpPr>
          <p:spPr>
            <a:xfrm>
              <a:off x="0" y="1277909"/>
              <a:ext cx="4229514" cy="0"/>
            </a:xfrm>
            <a:prstGeom prst="line">
              <a:avLst/>
            </a:prstGeom>
            <a:ln cap="rnd" w="63500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837805" y="536161"/>
            <a:ext cx="2968807" cy="2067359"/>
            <a:chOff x="0" y="0"/>
            <a:chExt cx="3958410" cy="2756479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35511" y="-9525"/>
              <a:ext cx="3922898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CUSTOMER SEGMENTS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35511" y="1519175"/>
              <a:ext cx="3922898" cy="1237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Artists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Record labels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Music users</a:t>
              </a:r>
            </a:p>
          </p:txBody>
        </p:sp>
        <p:sp>
          <p:nvSpPr>
            <p:cNvPr name="AutoShape 49" id="49"/>
            <p:cNvSpPr/>
            <p:nvPr/>
          </p:nvSpPr>
          <p:spPr>
            <a:xfrm>
              <a:off x="0" y="1277909"/>
              <a:ext cx="3922898" cy="0"/>
            </a:xfrm>
            <a:prstGeom prst="line">
              <a:avLst/>
            </a:prstGeom>
            <a:ln cap="rnd" w="63500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473144" y="8332706"/>
            <a:ext cx="8290946" cy="1300677"/>
            <a:chOff x="0" y="0"/>
            <a:chExt cx="11054595" cy="1734236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-9525"/>
              <a:ext cx="11054595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COST STRUCTURE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913812"/>
              <a:ext cx="11054595" cy="820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Machine learning development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"/>
                  <a:ea typeface="Fira Sans"/>
                  <a:cs typeface="Fira Sans"/>
                  <a:sym typeface="Fira Sans"/>
                </a:rPr>
                <a:t>M</a:t>
              </a: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arketing &amp; outreach</a:t>
              </a:r>
            </a:p>
          </p:txBody>
        </p:sp>
        <p:sp>
          <p:nvSpPr>
            <p:cNvPr name="AutoShape 53" id="53"/>
            <p:cNvSpPr/>
            <p:nvPr/>
          </p:nvSpPr>
          <p:spPr>
            <a:xfrm>
              <a:off x="0" y="741068"/>
              <a:ext cx="11054584" cy="0"/>
            </a:xfrm>
            <a:prstGeom prst="line">
              <a:avLst/>
            </a:prstGeom>
            <a:ln cap="rnd" w="63500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489033" y="7995966"/>
            <a:ext cx="8317579" cy="2394987"/>
            <a:chOff x="0" y="0"/>
            <a:chExt cx="11090106" cy="3193316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-9525"/>
              <a:ext cx="11090106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 spc="78" u="none">
                  <a:solidFill>
                    <a:srgbClr val="F0F0F0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REVENUE STREAMS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1122252"/>
              <a:ext cx="11090106" cy="2071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Subscription model: Paid access for artists, producers, and labels.  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"/>
                  <a:ea typeface="Fira Sans"/>
                  <a:cs typeface="Fira Sans"/>
                  <a:sym typeface="Fira Sans"/>
                </a:rPr>
                <a:t>C</a:t>
              </a: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onsulting services: Custom insights for major music labels and platforms.  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pc="9">
                  <a:solidFill>
                    <a:srgbClr val="F0F0F0"/>
                  </a:solidFill>
                  <a:latin typeface="Fira Sans"/>
                  <a:ea typeface="Fira Sans"/>
                  <a:cs typeface="Fira Sans"/>
                  <a:sym typeface="Fira Sans"/>
                </a:rPr>
                <a:t>P</a:t>
              </a:r>
              <a:r>
                <a:rPr lang="en-US" sz="1800" spc="9">
                  <a:solidFill>
                    <a:srgbClr val="F0F0F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remium reports: Sell trend analysis and hit prediction reports.  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AutoShape 57" id="57"/>
            <p:cNvSpPr/>
            <p:nvPr/>
          </p:nvSpPr>
          <p:spPr>
            <a:xfrm>
              <a:off x="0" y="741068"/>
              <a:ext cx="11090095" cy="0"/>
            </a:xfrm>
            <a:prstGeom prst="line">
              <a:avLst/>
            </a:prstGeom>
            <a:ln cap="rnd" w="63500">
              <a:solidFill>
                <a:srgbClr val="F0F0F0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473205" y="524500"/>
            <a:ext cx="2743273" cy="1008400"/>
            <a:chOff x="0" y="0"/>
            <a:chExt cx="3657697" cy="1344533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5117" y="-9525"/>
              <a:ext cx="3652581" cy="494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5"/>
                </a:lnSpc>
                <a:spcBef>
                  <a:spcPct val="0"/>
                </a:spcBef>
              </a:pP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5117" y="975039"/>
              <a:ext cx="3652581" cy="369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6"/>
                </a:lnSpc>
                <a:spcBef>
                  <a:spcPct val="0"/>
                </a:spcBef>
              </a:pPr>
            </a:p>
          </p:txBody>
        </p:sp>
        <p:sp>
          <p:nvSpPr>
            <p:cNvPr name="AutoShape 61" id="61"/>
            <p:cNvSpPr/>
            <p:nvPr/>
          </p:nvSpPr>
          <p:spPr>
            <a:xfrm>
              <a:off x="0" y="748979"/>
              <a:ext cx="3652581" cy="0"/>
            </a:xfrm>
            <a:prstGeom prst="line">
              <a:avLst/>
            </a:prstGeom>
            <a:ln cap="rnd" w="59124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320945D82FA14E939724907B8A7D62" ma:contentTypeVersion="11" ma:contentTypeDescription="Crear nuevo documento." ma:contentTypeScope="" ma:versionID="aaa07c6fe1834371348af59312160d07">
  <xsd:schema xmlns:xsd="http://www.w3.org/2001/XMLSchema" xmlns:xs="http://www.w3.org/2001/XMLSchema" xmlns:p="http://schemas.microsoft.com/office/2006/metadata/properties" xmlns:ns2="c0041c52-2d53-4df3-9d58-3b8605de0355" xmlns:ns3="a057ad0e-8bdf-48ef-ba03-3a1addd94e76" targetNamespace="http://schemas.microsoft.com/office/2006/metadata/properties" ma:root="true" ma:fieldsID="5b67fe8bf608f1fe91de9514bba2029d" ns2:_="" ns3:_="">
    <xsd:import namespace="c0041c52-2d53-4df3-9d58-3b8605de0355"/>
    <xsd:import namespace="a057ad0e-8bdf-48ef-ba03-3a1addd94e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041c52-2d53-4df3-9d58-3b8605de03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02575e52-3e5f-4a4c-9122-9f0195bc6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7ad0e-8bdf-48ef-ba03-3a1addd94e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3bfb265-8b95-4d67-b0bb-219590914811}" ma:internalName="TaxCatchAll" ma:showField="CatchAllData" ma:web="a057ad0e-8bdf-48ef-ba03-3a1addd94e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7ad0e-8bdf-48ef-ba03-3a1addd94e76" xsi:nil="true"/>
    <lcf76f155ced4ddcb4097134ff3c332f xmlns="c0041c52-2d53-4df3-9d58-3b8605de03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40B6C99-2EA2-4C80-B119-41064C794B74}"/>
</file>

<file path=customXml/itemProps2.xml><?xml version="1.0" encoding="utf-8"?>
<ds:datastoreItem xmlns:ds="http://schemas.openxmlformats.org/officeDocument/2006/customXml" ds:itemID="{A65EEFD3-DD2B-4ADE-933E-4D9919E5C0BC}"/>
</file>

<file path=customXml/itemProps3.xml><?xml version="1.0" encoding="utf-8"?>
<ds:datastoreItem xmlns:ds="http://schemas.openxmlformats.org/officeDocument/2006/customXml" ds:itemID="{9FD14056-FEE2-4B69-9900-E54860512EB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Unique Value Proposition</dc:title>
  <cp:revision>1</cp:revision>
  <dcterms:created xsi:type="dcterms:W3CDTF">2006-08-16T00:00:00Z</dcterms:created>
  <dcterms:modified xsi:type="dcterms:W3CDTF">2011-08-01T06:04:30Z</dcterms:modified>
  <dc:identifier>DAGgqWkKhqc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0x01010000320945D82FA14E939724907B8A7D62</vt:lpwstr>
  </property>
</Properties>
</file>